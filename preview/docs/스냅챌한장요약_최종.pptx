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E88BB7-9BF2-4F19-9059-7150C0C5BA3C}">
  <a:tblStyle styleId="{E1E88BB7-9BF2-4F19-9059-7150C0C5BA3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4e77a69d9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e4e77a69d9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e4e77a69d9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274320" y="171450"/>
            <a:ext cx="1577100" cy="404700"/>
          </a:xfrm>
          <a:prstGeom prst="rect">
            <a:avLst/>
          </a:prstGeom>
          <a:solidFill>
            <a:srgbClr val="FF6013"/>
          </a:solidFill>
          <a:ln cap="flat" cmpd="sng" w="9525">
            <a:solidFill>
              <a:srgbClr val="FF60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1837944" y="171450"/>
            <a:ext cx="294900" cy="404700"/>
          </a:xfrm>
          <a:prstGeom prst="rect">
            <a:avLst/>
          </a:prstGeom>
          <a:solidFill>
            <a:srgbClr val="FF6013"/>
          </a:solidFill>
          <a:ln cap="flat" cmpd="sng" w="9525">
            <a:solidFill>
              <a:srgbClr val="FF60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023110" y="171450"/>
            <a:ext cx="6878400" cy="404700"/>
          </a:xfrm>
          <a:prstGeom prst="rect">
            <a:avLst/>
          </a:prstGeom>
          <a:solidFill>
            <a:srgbClr val="D0CECF"/>
          </a:solidFill>
          <a:ln cap="flat" cmpd="sng" w="9525">
            <a:solidFill>
              <a:srgbClr val="D0CE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2023110" y="171450"/>
            <a:ext cx="233100" cy="404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370332" y="171450"/>
            <a:ext cx="14814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스냅챌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2352294" y="171450"/>
            <a:ext cx="5623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사업 요약 · AlphaTeam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data/workspace/00_HectoPPT/assets/logo-orange-on-gray.png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2440" y="242087"/>
            <a:ext cx="726944" cy="26060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74320" y="685800"/>
            <a:ext cx="8627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퀘스트로 찍는 2초 소셜 로그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274320" y="932688"/>
            <a:ext cx="862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BeReal이 남긴 공백, 셋로그가 증명한 시장 — 스냅챌이 퀘스트로 채운다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14"/>
          <p:cNvCxnSpPr/>
          <p:nvPr/>
        </p:nvCxnSpPr>
        <p:spPr>
          <a:xfrm>
            <a:off x="274320" y="1193292"/>
            <a:ext cx="8627400" cy="0"/>
          </a:xfrm>
          <a:prstGeom prst="straightConnector1">
            <a:avLst/>
          </a:prstGeom>
          <a:noFill/>
          <a:ln cap="flat" cmpd="sng" w="71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4"/>
          <p:cNvSpPr/>
          <p:nvPr/>
        </p:nvSpPr>
        <p:spPr>
          <a:xfrm>
            <a:off x="274320" y="1268730"/>
            <a:ext cx="2784300" cy="891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8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11480" y="1364742"/>
            <a:ext cx="2510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셋로그 연간 반복 매출 (ARR)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11480" y="1543050"/>
            <a:ext cx="251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ko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111억</a:t>
            </a:r>
            <a:r>
              <a:rPr b="1" i="0" lang="ko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411480" y="1954530"/>
            <a:ext cx="2510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B886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15B886"/>
                </a:solidFill>
                <a:latin typeface="Arial"/>
                <a:ea typeface="Arial"/>
                <a:cs typeface="Arial"/>
                <a:sym typeface="Arial"/>
              </a:rPr>
              <a:t>▲ 폐쇄형 숏폼 시장 수요 검증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3195828" y="1268730"/>
            <a:ext cx="2784300" cy="891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8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3332988" y="1364742"/>
            <a:ext cx="2510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한국 숏폼 이용률 (2024)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3332988" y="1543050"/>
            <a:ext cx="251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ko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82.7</a:t>
            </a:r>
            <a:r>
              <a:rPr b="1" i="0" lang="ko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3332988" y="1954530"/>
            <a:ext cx="2510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B886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15B886"/>
                </a:solidFill>
                <a:latin typeface="Arial"/>
                <a:ea typeface="Arial"/>
                <a:cs typeface="Arial"/>
                <a:sym typeface="Arial"/>
              </a:rPr>
              <a:t>▲ 2022년 56.5% → 2024년 대중화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6117336" y="1268730"/>
            <a:ext cx="2784300" cy="891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8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6254496" y="1364742"/>
            <a:ext cx="2510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셋로그 Android 출시 후 다운로드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6254496" y="1543050"/>
            <a:ext cx="251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ko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50만</a:t>
            </a:r>
            <a:r>
              <a:rPr b="1" i="0" lang="ko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6254496" y="1954530"/>
            <a:ext cx="2510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B886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15B886"/>
                </a:solidFill>
                <a:latin typeface="Arial"/>
                <a:ea typeface="Arial"/>
                <a:cs typeface="Arial"/>
                <a:sym typeface="Arial"/>
              </a:rPr>
              <a:t>▲ 5일 만에 앱스토어 전체 1위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274320" y="2263140"/>
            <a:ext cx="4519500" cy="253800"/>
          </a:xfrm>
          <a:prstGeom prst="rect">
            <a:avLst/>
          </a:prstGeom>
          <a:solidFill>
            <a:srgbClr val="FFE7DC"/>
          </a:solidFill>
          <a:ln cap="flat" cmpd="sng" w="9525">
            <a:solidFill>
              <a:srgbClr val="FFE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397764" y="2263140"/>
            <a:ext cx="4382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01.  경쟁 포지셔닝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" name="Google Shape;80;p14"/>
          <p:cNvGraphicFramePr/>
          <p:nvPr/>
        </p:nvGraphicFramePr>
        <p:xfrm>
          <a:off x="274320" y="2578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{E1E88BB7-9BF2-4F19-9059-7150C0C5BA3C}</a:tableStyleId>
              </a:tblPr>
              <a:tblGrid>
                <a:gridCol w="1165850"/>
                <a:gridCol w="582950"/>
                <a:gridCol w="603500"/>
                <a:gridCol w="870975"/>
                <a:gridCol w="747525"/>
              </a:tblGrid>
              <a:tr h="294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ko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서비스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ko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ko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폐쇄형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ko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 퀘스트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0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ko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수익화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DC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ko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스냅챌 ★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ko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2초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ko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ko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차별화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ko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구독+IAP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4EE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셋로그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2초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구독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BeReal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공개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광고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인스타 친친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부가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Meta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Locket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사진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800"/>
                        <a:buFont typeface="Arial"/>
                        <a:buNone/>
                      </a:pPr>
                      <a:r>
                        <a:rPr lang="ko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없음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8E9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1" name="Google Shape;81;p14"/>
          <p:cNvSpPr/>
          <p:nvPr/>
        </p:nvSpPr>
        <p:spPr>
          <a:xfrm>
            <a:off x="4930902" y="2263140"/>
            <a:ext cx="3970800" cy="253800"/>
          </a:xfrm>
          <a:prstGeom prst="rect">
            <a:avLst/>
          </a:prstGeom>
          <a:solidFill>
            <a:srgbClr val="FFE7DC"/>
          </a:solidFill>
          <a:ln cap="flat" cmpd="sng" w="9525">
            <a:solidFill>
              <a:srgbClr val="FFE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5054346" y="2263140"/>
            <a:ext cx="3819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02.  스냅챌 — 앱 서비스 소개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5054346" y="2566635"/>
            <a:ext cx="376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퀘스트 → 2초 촬영 → 친구공개  3단계 UX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하루 1~3개 퀘스트 수신 후 즉시 2초 영상 촬영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폐쇄형 피드 — 팔로워만 열람, 실시간 일상 기록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BeReal 공백 × 셋로그 검증 수요 → 퀘스트 차별화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930902" y="3288486"/>
            <a:ext cx="3970800" cy="253800"/>
          </a:xfrm>
          <a:prstGeom prst="rect">
            <a:avLst/>
          </a:prstGeom>
          <a:solidFill>
            <a:srgbClr val="FFE7DC"/>
          </a:solidFill>
          <a:ln cap="flat" cmpd="sng" w="9525">
            <a:solidFill>
              <a:srgbClr val="FFE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5054346" y="3288486"/>
            <a:ext cx="3819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03.  수익 모델 (Freemium → IAP)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5054346" y="3576522"/>
            <a:ext cx="870900" cy="7200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8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5095494" y="3645102"/>
            <a:ext cx="78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무료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14"/>
          <p:cNvCxnSpPr/>
          <p:nvPr/>
        </p:nvCxnSpPr>
        <p:spPr>
          <a:xfrm>
            <a:off x="5122926" y="3864558"/>
            <a:ext cx="733800" cy="0"/>
          </a:xfrm>
          <a:prstGeom prst="straightConnector1">
            <a:avLst/>
          </a:prstGeom>
          <a:noFill/>
          <a:ln cap="flat" cmpd="sng" w="7150">
            <a:solidFill>
              <a:srgbClr val="E8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4"/>
          <p:cNvSpPr/>
          <p:nvPr/>
        </p:nvSpPr>
        <p:spPr>
          <a:xfrm>
            <a:off x="5095494" y="3898848"/>
            <a:ext cx="7887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기본 이모지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기본 화질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5932170" y="3861129"/>
            <a:ext cx="8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6021324" y="3576522"/>
            <a:ext cx="870900" cy="720000"/>
          </a:xfrm>
          <a:prstGeom prst="rect">
            <a:avLst/>
          </a:prstGeom>
          <a:solidFill>
            <a:srgbClr val="FFF4EE"/>
          </a:solidFill>
          <a:ln cap="flat" cmpd="sng" w="7150">
            <a:solidFill>
              <a:srgbClr val="E8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6062472" y="3645102"/>
            <a:ext cx="78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광고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4"/>
          <p:cNvCxnSpPr/>
          <p:nvPr/>
        </p:nvCxnSpPr>
        <p:spPr>
          <a:xfrm>
            <a:off x="6089904" y="3864558"/>
            <a:ext cx="733800" cy="0"/>
          </a:xfrm>
          <a:prstGeom prst="straightConnector1">
            <a:avLst/>
          </a:prstGeom>
          <a:noFill/>
          <a:ln cap="flat" cmpd="sng" w="7150">
            <a:solidFill>
              <a:srgbClr val="E8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4"/>
          <p:cNvSpPr/>
          <p:nvPr/>
        </p:nvSpPr>
        <p:spPr>
          <a:xfrm>
            <a:off x="6062472" y="3898848"/>
            <a:ext cx="7887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리워드 스티커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1회 적립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899148" y="3861129"/>
            <a:ext cx="8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988302" y="3576522"/>
            <a:ext cx="870900" cy="720000"/>
          </a:xfrm>
          <a:prstGeom prst="rect">
            <a:avLst/>
          </a:prstGeom>
          <a:solidFill>
            <a:srgbClr val="FFE7DC"/>
          </a:solidFill>
          <a:ln cap="flat" cmpd="sng" w="7150">
            <a:solidFill>
              <a:srgbClr val="E8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029450" y="3645102"/>
            <a:ext cx="78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4"/>
          <p:cNvCxnSpPr/>
          <p:nvPr/>
        </p:nvCxnSpPr>
        <p:spPr>
          <a:xfrm>
            <a:off x="7056882" y="3864558"/>
            <a:ext cx="733800" cy="0"/>
          </a:xfrm>
          <a:prstGeom prst="straightConnector1">
            <a:avLst/>
          </a:prstGeom>
          <a:noFill/>
          <a:ln cap="flat" cmpd="sng" w="7150">
            <a:solidFill>
              <a:srgbClr val="E8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4"/>
          <p:cNvSpPr/>
          <p:nvPr/>
        </p:nvSpPr>
        <p:spPr>
          <a:xfrm>
            <a:off x="7029450" y="3898848"/>
            <a:ext cx="7887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스티커 무제한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HD + 이펙트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866126" y="3861129"/>
            <a:ext cx="8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955280" y="3576522"/>
            <a:ext cx="870900" cy="720000"/>
          </a:xfrm>
          <a:prstGeom prst="rect">
            <a:avLst/>
          </a:prstGeom>
          <a:solidFill>
            <a:srgbClr val="FF6013"/>
          </a:solidFill>
          <a:ln cap="flat" cmpd="sng" w="7150">
            <a:solidFill>
              <a:srgbClr val="FF60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7996428" y="3645102"/>
            <a:ext cx="78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8023860" y="3864558"/>
            <a:ext cx="733800" cy="0"/>
          </a:xfrm>
          <a:prstGeom prst="straightConnector1">
            <a:avLst/>
          </a:prstGeom>
          <a:noFill/>
          <a:ln cap="flat" cmpd="sng" w="7150">
            <a:solidFill>
              <a:srgbClr val="FFCF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4"/>
          <p:cNvSpPr/>
          <p:nvPr/>
        </p:nvSpPr>
        <p:spPr>
          <a:xfrm>
            <a:off x="7996428" y="3898848"/>
            <a:ext cx="7887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시즌 퀘스트팩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크리스마스·기념일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274320" y="4409694"/>
            <a:ext cx="27600" cy="377100"/>
          </a:xfrm>
          <a:prstGeom prst="rect">
            <a:avLst/>
          </a:prstGeom>
          <a:solidFill>
            <a:srgbClr val="FF6013"/>
          </a:solidFill>
          <a:ln cap="flat" cmpd="sng" w="9525">
            <a:solidFill>
              <a:srgbClr val="FF60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411480" y="4430268"/>
            <a:ext cx="835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"퀘스트 기반 미션 — 5개 경쟁사 전체 미도입 · 스냅챌이 유일"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8318754" y="4869180"/>
            <a:ext cx="58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054351" y="4923975"/>
            <a:ext cx="3599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rPr>
              <a:t>출처: 쿠키딜 · 네이트뉴스 2026.04 · 매드타임스 · Business of Apps · 자체 분석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533876" y="4759275"/>
            <a:ext cx="2120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ts val="800"/>
              <a:buFont typeface="Arial"/>
              <a:buNone/>
            </a:pPr>
            <a:r>
              <a:rPr lang="ko" sz="800">
                <a:solidFill>
                  <a:srgbClr val="A6AAA9"/>
                </a:solidFill>
              </a:rPr>
              <a:t>친친¹: 인스타 스토리 기능 중 친한 친구 제한 기능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